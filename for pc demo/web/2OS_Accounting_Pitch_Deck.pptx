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5120640" cy="34747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229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FILIPINO ROOT: "TUOS" (ACCOUNTING) • BILATERAL SYMMETRY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2OS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2-Parties Oriented &amp; Synchronized Accounting System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with MS Office-Style Ribbon, Familiar Spreadsheets, and Statutory Philippine Compliance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3154680"/>
            <a:ext cx="10515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246120"/>
            <a:ext cx="9966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"Because every progress is always supported by a strong foundation,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2OS will not only be the bridge but also the foundation."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475488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846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 Office Style UI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51663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tabs, grouped toolbars, quick actions &amp; multi-sheet bottom navigator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34840" y="475488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4846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Bilateral Sync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51663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Synchronizes Internal Operations with BIR, Banks &amp; External Audits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46720" y="475488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4846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 to Enterprise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51663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sari-sari cash registers to consolidated holding financial statements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01168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INTERFACE ARCHITECTURE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 MS Office-Style Anatomy: Zero Training Resistance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translation of desktop Office conventions into a fast, responsive web accounting workspace.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22960" y="1325880"/>
            <a:ext cx="10545775" cy="502920"/>
          </a:xfrm>
          <a:prstGeom prst="roundRect">
            <a:avLst>
              <a:gd name="adj" fmla="val 14545"/>
            </a:avLst>
          </a:prstGeom>
          <a:solidFill>
            <a:srgbClr val="EDF6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380744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WINDOW TITLE BAR &amp; GLOBAL CONTROLS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600200"/>
            <a:ext cx="10180015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with chromatic badge, Entity Switcher (Head Office vs Branches), InfinityFree &amp; MySQL connection status, user profile, and window controls.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960" y="1938528"/>
            <a:ext cx="10545775" cy="502920"/>
          </a:xfrm>
          <a:prstGeom prst="roundRect">
            <a:avLst>
              <a:gd name="adj" fmla="val 14545"/>
            </a:avLst>
          </a:prstGeom>
          <a:solidFill>
            <a:srgbClr val="EDF6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93392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RIBBON CATEGORY TABS (6 CORE DOMAINS + SETTINGS)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212848"/>
            <a:ext cx="10180015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| Directory | Books of Accounts | Other Transactions | Financial Statements | BIR Computations | Settings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2960" y="2551176"/>
            <a:ext cx="1054577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606040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GROUPED RIBBON TOOLBAR &amp; EXPORT/CONVERT PANEL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2825496"/>
            <a:ext cx="1018001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Domain-specific tools (Payroll, Depreciation, Inventory, Bank Recon). Right: Instant 1-click Export Sheet, Full Workbook XLSX, Print, and Import Data.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2960" y="3483864"/>
            <a:ext cx="1054577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538728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CONSOLIDATED DOCUMENT &amp; TAXPAYER HEADER CARD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758184"/>
            <a:ext cx="10180015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active legal entity, branch scope [CONSOLIDATED (ALL BRANCHES)], formal Philippine journal title, and interactive reporting period picker.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2960" y="4279392"/>
            <a:ext cx="10545775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334256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INTERACTIVE SPREADSHEET CANVAS &amp; STATUTORY FORM CARDS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4553712"/>
            <a:ext cx="10180015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toolbars (Load Model Image, Add Entry, Logs), fillable statutory form inputs matching BIR line items, and audit-ready data tables.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2960" y="5669280"/>
            <a:ext cx="10545775" cy="502920"/>
          </a:xfrm>
          <a:prstGeom prst="roundRect">
            <a:avLst>
              <a:gd name="adj" fmla="val 14545"/>
            </a:avLst>
          </a:prstGeom>
          <a:solidFill>
            <a:srgbClr val="EDF6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724144"/>
            <a:ext cx="10180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WORKBOOK SHEET BAR (BRANCHES &amp; MULTI-VIEW NAVIGATION)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5943600"/>
            <a:ext cx="10180015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navigation (&lt; &gt;), active sheets pills [Consolidated Aggregated] [Head Office Main], and [Manage Branches] modal launcher.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01168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RIBBON MODULE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Ribbon: Executive Financial Monitoring Dashboard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business intelligence, financial health ratios, chart of accounts, and Philippine tax calendar.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EDF6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261872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26187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07008" y="124358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2OS ACCOUNTING SYSTEM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07008" y="1426464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 Tax &amp; PFRS Books of Accounts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480560" y="12801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SELECTED ENTITY: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0" y="12801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2801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[icon:building] Select Entity  ▾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595360" y="12801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12801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[db] InfinityFree &amp; MySQL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652760" y="1289304"/>
            <a:ext cx="274320" cy="27432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52760" y="12893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018520" y="128016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▢   ✕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" y="1682496"/>
            <a:ext cx="11094415" cy="347472"/>
          </a:xfrm>
          <a:prstGeom prst="rect">
            <a:avLst/>
          </a:prstGeom>
          <a:solidFill>
            <a:srgbClr val="EDF6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1719072"/>
            <a:ext cx="760781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1993392"/>
            <a:ext cx="760781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1719072"/>
            <a:ext cx="76078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Home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519733" y="1719072"/>
            <a:ext cx="11631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Directory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56002" y="1719072"/>
            <a:ext cx="18068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 Books of Accounts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36008" y="1719072"/>
            <a:ext cx="188732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📑 Other Transactions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596482" y="1719072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🏛️ Financial Statements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17890" y="1719072"/>
            <a:ext cx="17263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BIR Computations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545775" y="17190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Settings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" y="2029968"/>
            <a:ext cx="11094415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E0F2F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⏱️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2376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755648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55648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🧮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792224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825496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25496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📖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862072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of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895344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95344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931920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965192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65192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001768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31520" y="2688336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TOOLS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8579815" y="2103120"/>
            <a:ext cx="18288" cy="694944"/>
          </a:xfrm>
          <a:prstGeom prst="rect">
            <a:avLst/>
          </a:prstGeom>
          <a:solidFill>
            <a:srgbClr val="BAE6FD"/>
          </a:solidFill>
          <a:ln/>
        </p:spPr>
      </p:sp>
      <p:sp>
        <p:nvSpPr>
          <p:cNvPr id="48" name="Text 46"/>
          <p:cNvSpPr/>
          <p:nvPr/>
        </p:nvSpPr>
        <p:spPr>
          <a:xfrm>
            <a:off x="8716975" y="21214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📄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716975" y="2340864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9402775" y="21214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📥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402775" y="2340864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0088575" y="21214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🖨️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0088575" y="2340864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0774375" y="21214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📤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0774375" y="2340864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8716975" y="2688336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&amp; CONVERT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48640" y="2999232"/>
            <a:ext cx="11094415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23360" y="30540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SELECTED ENTITY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26480" y="3054096"/>
            <a:ext cx="2560320" cy="20116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26480" y="305409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(ALL BRANCHES)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1005840" y="3273552"/>
            <a:ext cx="101800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FINANCIAL MONITORING DASHBOARD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4389120" y="3529584"/>
            <a:ext cx="3413455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389120" y="3529584"/>
            <a:ext cx="34134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AS OF AUGUST 31, 2026 ▾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548640" y="6355080"/>
            <a:ext cx="11094415" cy="347472"/>
          </a:xfrm>
          <a:prstGeom prst="rect">
            <a:avLst/>
          </a:prstGeom>
          <a:solidFill>
            <a:srgbClr val="EDF6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5800" y="640080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&lt;  &gt;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143000" y="64008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🪢 SHEETS: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011680" y="6400800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</p:sp>
      <p:sp>
        <p:nvSpPr>
          <p:cNvPr id="68" name="Text 66"/>
          <p:cNvSpPr/>
          <p:nvPr/>
        </p:nvSpPr>
        <p:spPr>
          <a:xfrm>
            <a:off x="2011680" y="6400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Consolidated   [Aggregated]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206240" y="6400800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206240" y="6400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Head Office   [Main]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9722815" y="6400800"/>
            <a:ext cx="1783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722815" y="64008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Manage Branches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48640" y="3877056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5800" y="395020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(YTD)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85800" y="415137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₱ 2,450,800.00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685800" y="4471416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+18.4% vs prev quarter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346704" y="3877056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483864" y="395020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Operating Expenses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3483864" y="415137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₱ 1,180,450.00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3483864" y="4471416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Profit: ₱1,270,350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144768" y="3877056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81928" y="395020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Cash Position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6281928" y="415137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₱ 894,200.00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6281928" y="4471416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Bank &amp; Petty Cash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8942832" y="3877056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079992" y="395020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BIR Tax Due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9079992" y="415137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₱ 124,650.00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9079992" y="4471416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2550Q / 1702Q Provision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548640" y="4837176"/>
            <a:ext cx="11094415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22960" y="492861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VS. OPERATING EXPENSE RUNWAY (LAST 6 MONTHS)  •  LIVE PFRS BENCHMARKS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097280" y="5333446"/>
            <a:ext cx="411480" cy="37241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92" name="Shape 90"/>
          <p:cNvSpPr/>
          <p:nvPr/>
        </p:nvSpPr>
        <p:spPr>
          <a:xfrm>
            <a:off x="1536192" y="5496375"/>
            <a:ext cx="411480" cy="209481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3" name="Text 91"/>
          <p:cNvSpPr/>
          <p:nvPr/>
        </p:nvSpPr>
        <p:spPr>
          <a:xfrm>
            <a:off x="1097280" y="575157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2788920" y="5228705"/>
            <a:ext cx="411480" cy="477151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95" name="Shape 93"/>
          <p:cNvSpPr/>
          <p:nvPr/>
        </p:nvSpPr>
        <p:spPr>
          <a:xfrm>
            <a:off x="3227832" y="5461462"/>
            <a:ext cx="411480" cy="24439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6" name="Text 94"/>
          <p:cNvSpPr/>
          <p:nvPr/>
        </p:nvSpPr>
        <p:spPr>
          <a:xfrm>
            <a:off x="2788920" y="575157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4480560" y="5251981"/>
            <a:ext cx="411480" cy="453875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98" name="Shape 96"/>
          <p:cNvSpPr/>
          <p:nvPr/>
        </p:nvSpPr>
        <p:spPr>
          <a:xfrm>
            <a:off x="4919472" y="5478919"/>
            <a:ext cx="411480" cy="226937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9" name="Text 97"/>
          <p:cNvSpPr/>
          <p:nvPr/>
        </p:nvSpPr>
        <p:spPr>
          <a:xfrm>
            <a:off x="4480560" y="575157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172200" y="5170516"/>
            <a:ext cx="411480" cy="5353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01" name="Shape 99"/>
          <p:cNvSpPr/>
          <p:nvPr/>
        </p:nvSpPr>
        <p:spPr>
          <a:xfrm>
            <a:off x="6611112" y="5438186"/>
            <a:ext cx="411480" cy="26767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2" name="Text 100"/>
          <p:cNvSpPr/>
          <p:nvPr/>
        </p:nvSpPr>
        <p:spPr>
          <a:xfrm>
            <a:off x="6172200" y="575157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7863840" y="5100689"/>
            <a:ext cx="411480" cy="605167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04" name="Shape 102"/>
          <p:cNvSpPr/>
          <p:nvPr/>
        </p:nvSpPr>
        <p:spPr>
          <a:xfrm>
            <a:off x="8302752" y="5426548"/>
            <a:ext cx="411480" cy="2793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5" name="Text 103"/>
          <p:cNvSpPr/>
          <p:nvPr/>
        </p:nvSpPr>
        <p:spPr>
          <a:xfrm>
            <a:off x="7863840" y="575157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9555480" y="5298532"/>
            <a:ext cx="411480" cy="40732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07" name="Shape 105"/>
          <p:cNvSpPr/>
          <p:nvPr/>
        </p:nvSpPr>
        <p:spPr>
          <a:xfrm>
            <a:off x="9994392" y="5560383"/>
            <a:ext cx="411480" cy="145473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8" name="Text 106"/>
          <p:cNvSpPr/>
          <p:nvPr/>
        </p:nvSpPr>
        <p:spPr>
          <a:xfrm>
            <a:off x="9555480" y="575157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01168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RIBBON MODULE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DIRECTORY Ribbon: Masterlist &amp; Stakeholder Management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registry of Legal Entities, Registered Customers, Vendors, Staff, and Billable Products/Services.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EDF6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261872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26187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07008" y="124358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2OS ACCOUNTING SYSTEM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07008" y="1426464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 Tax &amp; PFRS Books of Accounts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480560" y="12801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SELECTED ENTITY: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0" y="12801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2801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[icon:building] Select Entity  ▾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595360" y="12801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12801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[db] InfinityFree &amp; MySQL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652760" y="1289304"/>
            <a:ext cx="274320" cy="27432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52760" y="12893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018520" y="128016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▢   ✕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" y="1682496"/>
            <a:ext cx="11094415" cy="347472"/>
          </a:xfrm>
          <a:prstGeom prst="rect">
            <a:avLst/>
          </a:prstGeom>
          <a:solidFill>
            <a:srgbClr val="EDF6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1719072"/>
            <a:ext cx="76078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Home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519733" y="1719072"/>
            <a:ext cx="1163117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19733" y="1993392"/>
            <a:ext cx="1163117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1519733" y="1719072"/>
            <a:ext cx="11631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Directory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56002" y="1719072"/>
            <a:ext cx="18068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 Books of Accounts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36008" y="1719072"/>
            <a:ext cx="188732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📑 Other Transactions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596482" y="1719072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🏛️ Financial Statements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17890" y="1719072"/>
            <a:ext cx="17263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BIR Computations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545775" y="17190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Settings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" y="2029968"/>
            <a:ext cx="11094415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🏢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2376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755648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E0F2F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55648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👥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792224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825496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25496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🚚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862072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895344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95344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👤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931920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965192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65192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📁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001768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Product/Services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31520" y="2688336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DIRECTORY TOOLS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8579815" y="2103120"/>
            <a:ext cx="18288" cy="694944"/>
          </a:xfrm>
          <a:prstGeom prst="rect">
            <a:avLst/>
          </a:prstGeom>
          <a:solidFill>
            <a:srgbClr val="BAE6FD"/>
          </a:solidFill>
          <a:ln/>
        </p:spPr>
      </p:sp>
      <p:sp>
        <p:nvSpPr>
          <p:cNvPr id="48" name="Text 46"/>
          <p:cNvSpPr/>
          <p:nvPr/>
        </p:nvSpPr>
        <p:spPr>
          <a:xfrm>
            <a:off x="8716975" y="21214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📄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716975" y="2340864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9402775" y="21214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📥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402775" y="2340864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0088575" y="21214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🖨️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0088575" y="2340864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0774375" y="21214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📤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0774375" y="2340864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8716975" y="2688336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&amp; CONVERT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48640" y="2999232"/>
            <a:ext cx="11094415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23360" y="30540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SELECTED ENTITY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26480" y="3054096"/>
            <a:ext cx="2560320" cy="20116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26480" y="305409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(ALL BRANCHES)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1005840" y="3273552"/>
            <a:ext cx="101800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MASTERLIST &amp; RECEIVABLES SCHEDULE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4389120" y="3529584"/>
            <a:ext cx="3413455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389120" y="3529584"/>
            <a:ext cx="34134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AS OF AUGUST 31, 2026 ▾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548640" y="6355080"/>
            <a:ext cx="11094415" cy="347472"/>
          </a:xfrm>
          <a:prstGeom prst="rect">
            <a:avLst/>
          </a:prstGeom>
          <a:solidFill>
            <a:srgbClr val="EDF6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5800" y="640080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&lt;  &gt;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143000" y="64008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🪢 SHEETS: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011680" y="6400800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</p:sp>
      <p:sp>
        <p:nvSpPr>
          <p:cNvPr id="68" name="Text 66"/>
          <p:cNvSpPr/>
          <p:nvPr/>
        </p:nvSpPr>
        <p:spPr>
          <a:xfrm>
            <a:off x="2011680" y="6400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Consolidated   [Aggregated]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206240" y="6400800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206240" y="6400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Head Office   [Main]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9722815" y="6400800"/>
            <a:ext cx="1783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722815" y="64008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Manage Branches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48640" y="3877056"/>
            <a:ext cx="11094415" cy="2404872"/>
          </a:xfrm>
          <a:prstGeom prst="roundRect">
            <a:avLst>
              <a:gd name="adj" fmla="val 3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0" y="4014216"/>
            <a:ext cx="10728655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5" name="Text 73"/>
          <p:cNvSpPr/>
          <p:nvPr/>
        </p:nvSpPr>
        <p:spPr>
          <a:xfrm>
            <a:off x="822960" y="401421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REGISTERED TIN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2926080" y="40142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/ TRADE NAME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217920" y="40142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REGISTERED ADDRESS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8595360" y="401421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TAX CLASSIFICATION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10149840" y="401421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A/R BALANCE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731520" y="4334256"/>
            <a:ext cx="1072865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22960" y="433425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123-456-789-00000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2926080" y="43342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Ayala Commercial Properties Inc.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6217920" y="43342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Makati City, Metro Manila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8595360" y="433425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Registered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10149840" y="433425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245,000.00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731520" y="4700016"/>
            <a:ext cx="10728655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22960" y="470001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987-654-321-00001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2926080" y="470001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Jollibee Foods Franchise Corp.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6217920" y="47000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Pasig City, Metro Manila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8595360" y="470001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Registered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10149840" y="47000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112,400.00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731520" y="5065776"/>
            <a:ext cx="1072865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22960" y="506577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456-789-012-00000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2926080" y="50657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Miguel Logistics Dist. LLC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6217920" y="506577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Mandaluyong City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8595360" y="506577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Registered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10149840" y="506577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580,200.00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731520" y="5431536"/>
            <a:ext cx="10728655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22960" y="543153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321-654-987-00000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2926080" y="543153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BGC Creative Digital Agency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6217920" y="54315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Taguig City, Metro Manila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8595360" y="543153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Non-VAT (8%)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10149840" y="543153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45,000.00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01168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RIBBON MODULE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BOOKS OF ACCOUNTS Ribbon: General Journal &amp; Subsidiary Ledgers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Philippine statutory books: Sales, Purchases, Receipts, Disbursements, and General Ledger.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EDF6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261872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26187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07008" y="124358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2OS ACCOUNTING SYSTEM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07008" y="1426464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 Tax &amp; PFRS Books of Accounts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480560" y="12801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SELECTED ENTITY: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0" y="12801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2801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[icon:building] Select Entity  ▾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595360" y="12801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12801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[db] InfinityFree &amp; MySQL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652760" y="1289304"/>
            <a:ext cx="274320" cy="27432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52760" y="12893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018520" y="128016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▢   ✕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" y="1682496"/>
            <a:ext cx="11094415" cy="347472"/>
          </a:xfrm>
          <a:prstGeom prst="rect">
            <a:avLst/>
          </a:prstGeom>
          <a:solidFill>
            <a:srgbClr val="EDF6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1719072"/>
            <a:ext cx="76078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Home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19733" y="1719072"/>
            <a:ext cx="11631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Directory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56002" y="1719072"/>
            <a:ext cx="180685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56002" y="1993392"/>
            <a:ext cx="1806854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3"/>
          <p:cNvSpPr/>
          <p:nvPr/>
        </p:nvSpPr>
        <p:spPr>
          <a:xfrm>
            <a:off x="2756002" y="1719072"/>
            <a:ext cx="18068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 Books of Accounts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36008" y="1719072"/>
            <a:ext cx="188732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📑 Other Transactions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596482" y="1719072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🏛️ Financial Statements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17890" y="1719072"/>
            <a:ext cx="17263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BIR Computations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545775" y="17190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Settings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" y="2029968"/>
            <a:ext cx="11094415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E0F2F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🧾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2376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Subsidiary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755648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55648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🧾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792224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Subsidiary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825496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25496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🪙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862072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895344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95344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💵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931920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Disbursements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965192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65192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📖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001768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035040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0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071616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31520" y="2688336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BOOKS OF ACCOUNTS TOOLS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8579815" y="2103120"/>
            <a:ext cx="18288" cy="694944"/>
          </a:xfrm>
          <a:prstGeom prst="rect">
            <a:avLst/>
          </a:prstGeom>
          <a:solidFill>
            <a:srgbClr val="BAE6FD"/>
          </a:solidFill>
          <a:ln/>
        </p:spPr>
      </p:sp>
      <p:sp>
        <p:nvSpPr>
          <p:cNvPr id="51" name="Text 49"/>
          <p:cNvSpPr/>
          <p:nvPr/>
        </p:nvSpPr>
        <p:spPr>
          <a:xfrm>
            <a:off x="8716975" y="21214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📄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716975" y="2340864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9402775" y="21214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📥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402775" y="2340864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0088575" y="21214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🖨️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0088575" y="2340864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10774375" y="21214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📤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0774375" y="2340864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8716975" y="2688336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&amp; CONVERT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548640" y="2999232"/>
            <a:ext cx="11094415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023360" y="30540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SELECTED ENTITY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26480" y="3054096"/>
            <a:ext cx="2560320" cy="20116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26480" y="305409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(ALL BRANCHES)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005840" y="3273552"/>
            <a:ext cx="101800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JOURNAL / REVENUE REGISTER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4389120" y="3529584"/>
            <a:ext cx="3413455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389120" y="3529584"/>
            <a:ext cx="34134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FOR THE MONTH OF AUGUST 2026 ▾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548640" y="6355080"/>
            <a:ext cx="11094415" cy="347472"/>
          </a:xfrm>
          <a:prstGeom prst="rect">
            <a:avLst/>
          </a:prstGeom>
          <a:solidFill>
            <a:srgbClr val="EDF6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5800" y="640080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&lt;  &gt;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43000" y="64008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🪢 SHEETS: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011680" y="6400800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</p:sp>
      <p:sp>
        <p:nvSpPr>
          <p:cNvPr id="71" name="Text 69"/>
          <p:cNvSpPr/>
          <p:nvPr/>
        </p:nvSpPr>
        <p:spPr>
          <a:xfrm>
            <a:off x="2011680" y="6400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Consolidated   [Aggregated]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206240" y="6400800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06240" y="6400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Head Office   [Main]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9722815" y="6400800"/>
            <a:ext cx="1783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722815" y="64008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Manage Branches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548640" y="3877056"/>
            <a:ext cx="11094415" cy="2404872"/>
          </a:xfrm>
          <a:prstGeom prst="roundRect">
            <a:avLst>
              <a:gd name="adj" fmla="val 3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31520" y="4014216"/>
            <a:ext cx="10728655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8" name="Text 76"/>
          <p:cNvSpPr/>
          <p:nvPr/>
        </p:nvSpPr>
        <p:spPr>
          <a:xfrm>
            <a:off x="822960" y="401421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/ REF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2743200" y="40142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NAME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6035040" y="401421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VATABLE SALES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7498080" y="401421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VAT (12%)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8961120" y="401421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2307 CWT (2%)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10149840" y="401421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AMOUNT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731520" y="4334256"/>
            <a:ext cx="1072865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22960" y="43342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2026-08-05  INV-0042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2743200" y="43342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Ayala Commercial Properties Inc.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6035040" y="433425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100,000.00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7498080" y="433425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12,000.00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8961120" y="433425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2,000.00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10149840" y="433425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112,000.00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731520" y="4700016"/>
            <a:ext cx="10728655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22960" y="47000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2026-08-12  INV-0043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2743200" y="470001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Prime Holdings Inc.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6035040" y="470001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250,000.00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7498080" y="470001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30,000.00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8961120" y="470001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5,000.00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10149840" y="47000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280,000.00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731520" y="5065776"/>
            <a:ext cx="1072865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22960" y="50657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2026-08-18  INV-0044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2743200" y="50657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Jollibee Foods Franchise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6035040" y="506577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75,000.00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7498080" y="506577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9,000.00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8961120" y="506577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1,500.00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10149840" y="506577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84,000.00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731520" y="5431536"/>
            <a:ext cx="10728655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22960" y="543153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2026-08-25  INV-0045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2743200" y="543153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BGC Creative Digital Agency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6035040" y="543153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50,000.00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7498080" y="543153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6,000.00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8961120" y="543153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1,000.00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10149840" y="543153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56,000.00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01168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RIBBON MODULE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TRANSACTIONS Ribbon: Statutory Payroll &amp; Fixed Assets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SSS, PhilHealth, Pag-IBIG &amp; Withholding tax on compensation, PPE depreciation, and Bank Reconciliation.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EDF6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261872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26187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07008" y="124358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2OS ACCOUNTING SYSTEM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07008" y="1426464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 Tax &amp; PFRS Books of Accounts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480560" y="12801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SELECTED ENTITY: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0" y="12801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2801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[icon:building] Select Entity  ▾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595360" y="12801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12801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[db] InfinityFree &amp; MySQL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652760" y="1289304"/>
            <a:ext cx="274320" cy="27432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52760" y="12893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018520" y="128016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▢   ✕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" y="1682496"/>
            <a:ext cx="11094415" cy="347472"/>
          </a:xfrm>
          <a:prstGeom prst="rect">
            <a:avLst/>
          </a:prstGeom>
          <a:solidFill>
            <a:srgbClr val="EDF6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1719072"/>
            <a:ext cx="76078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Home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19733" y="1719072"/>
            <a:ext cx="11631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Directory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56002" y="1719072"/>
            <a:ext cx="18068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 Books of Accounts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36008" y="1719072"/>
            <a:ext cx="188732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1993392"/>
            <a:ext cx="1887322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4636008" y="1719072"/>
            <a:ext cx="188732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📑 Other Transactions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596482" y="1719072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🏛️ Financial Statements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17890" y="1719072"/>
            <a:ext cx="17263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BIR Computations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545775" y="17190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Settings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" y="2029968"/>
            <a:ext cx="11094415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E0F2F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$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2376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755648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55648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792224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Depreciation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825496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25496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862072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895344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95344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🏛️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931920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31520" y="2688336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TRANSACTIONS TOOLS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8579815" y="2103120"/>
            <a:ext cx="18288" cy="694944"/>
          </a:xfrm>
          <a:prstGeom prst="rect">
            <a:avLst/>
          </a:prstGeom>
          <a:solidFill>
            <a:srgbClr val="BAE6FD"/>
          </a:solidFill>
          <a:ln/>
        </p:spPr>
      </p:sp>
      <p:sp>
        <p:nvSpPr>
          <p:cNvPr id="45" name="Text 43"/>
          <p:cNvSpPr/>
          <p:nvPr/>
        </p:nvSpPr>
        <p:spPr>
          <a:xfrm>
            <a:off x="8716975" y="21214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📄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716975" y="2340864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9402775" y="21214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📥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402775" y="2340864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0088575" y="21214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🖨️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088575" y="2340864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0774375" y="21214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📤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774375" y="2340864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8716975" y="2688336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&amp; CONVERT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48640" y="2999232"/>
            <a:ext cx="11094415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23360" y="30540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SELECTED ENTITY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26480" y="3054096"/>
            <a:ext cx="2560320" cy="20116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26480" y="305409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(ALL BRANCHES)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1005840" y="3273552"/>
            <a:ext cx="101800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REGISTER &amp; STATUTORY REMITTANCES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389120" y="3529584"/>
            <a:ext cx="3413455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89120" y="3529584"/>
            <a:ext cx="34134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FOR THE MONTH OF AUGUST 2026 ▾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48640" y="6355080"/>
            <a:ext cx="11094415" cy="347472"/>
          </a:xfrm>
          <a:prstGeom prst="rect">
            <a:avLst/>
          </a:prstGeom>
          <a:solidFill>
            <a:srgbClr val="EDF6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5800" y="640080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&lt;  &gt;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143000" y="64008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🪢 SHEETS: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011680" y="6400800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</p:sp>
      <p:sp>
        <p:nvSpPr>
          <p:cNvPr id="65" name="Text 63"/>
          <p:cNvSpPr/>
          <p:nvPr/>
        </p:nvSpPr>
        <p:spPr>
          <a:xfrm>
            <a:off x="2011680" y="6400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Consolidated   [Aggregated]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206240" y="6400800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06240" y="6400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Head Office   [Main]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9722815" y="6400800"/>
            <a:ext cx="1783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722815" y="64008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Manage Branches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48640" y="3877056"/>
            <a:ext cx="11094415" cy="2404872"/>
          </a:xfrm>
          <a:prstGeom prst="roundRect">
            <a:avLst>
              <a:gd name="adj" fmla="val 38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22960" y="396849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</a:t>
            </a:r>
            <a:endParaRPr lang="en-US" sz="2000" dirty="0"/>
          </a:p>
        </p:txBody>
      </p:sp>
      <p:sp>
        <p:nvSpPr>
          <p:cNvPr id="72" name="Text 70"/>
          <p:cNvSpPr/>
          <p:nvPr/>
        </p:nvSpPr>
        <p:spPr>
          <a:xfrm>
            <a:off x="1143000" y="3950208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Payroll Management &amp; Register (BIR Form 2316 Fillable Structure)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1143000" y="4187952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Fillable payroll records for Jan to Dec. Follows the EXACT structure &amp; line numbers of BIR Form 2316 (September 2021 ENCS). Every record feeds into 6. BIR Attachments → BIR 2316 Certificate.</a:t>
            </a:r>
            <a:endParaRPr lang="en-US" sz="780" dirty="0"/>
          </a:p>
        </p:txBody>
      </p:sp>
      <p:sp>
        <p:nvSpPr>
          <p:cNvPr id="74" name="Shape 72"/>
          <p:cNvSpPr/>
          <p:nvPr/>
        </p:nvSpPr>
        <p:spPr>
          <a:xfrm>
            <a:off x="7498080" y="3986784"/>
            <a:ext cx="1188720" cy="530352"/>
          </a:xfrm>
          <a:prstGeom prst="round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98080" y="3986784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✨ Load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Sample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8823960" y="3986784"/>
            <a:ext cx="1280160" cy="530352"/>
          </a:xfrm>
          <a:prstGeom prst="roundRect">
            <a:avLst>
              <a:gd name="adj" fmla="val 13793"/>
            </a:avLst>
          </a:prstGeom>
          <a:solidFill>
            <a:srgbClr val="2563EB"/>
          </a:solidFill>
          <a:ln/>
        </p:spPr>
      </p:sp>
      <p:sp>
        <p:nvSpPr>
          <p:cNvPr id="77" name="Text 75"/>
          <p:cNvSpPr/>
          <p:nvPr/>
        </p:nvSpPr>
        <p:spPr>
          <a:xfrm>
            <a:off x="8823960" y="398678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Fillable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 2316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Entry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10241280" y="3986784"/>
            <a:ext cx="1188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241280" y="3986784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Payroll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822960" y="462686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*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822960" y="4791456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14400" y="479145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Select Employee --   ▾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3383280" y="4626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For the Year (YYYY) *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3383280" y="4791456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383280" y="47914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2024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852160" y="4626864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For Period (MM/DD) *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5852160" y="4791456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852160" y="47914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6903720" y="47914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7223760" y="4791456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223760" y="47914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12/31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8412480" y="4626864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Posting Date *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8412480" y="4791456"/>
            <a:ext cx="292608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595360" y="47914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31 / 2024   📅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822960" y="5157216"/>
            <a:ext cx="10545775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14400" y="5157216"/>
            <a:ext cx="103628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SNAPSHOT: 4 EMPLOYEES POSTED  •  TOTAL GROSS: ₱120,500.00  •  TOTAL MANDATORY CONTRIBUTIONS (SSS/PHIC/HDMF): ₱10,790.00  •  W-TAX: ₱7,970.00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01168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RIBBON MODULE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STATEMENTS Ribbon: PFRS Standards Suite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generation of Comparative Balance Sheet, P&amp;L Statement, Financial Position, Changes in Equity &amp; Cash Flows.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EDF6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261872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26187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07008" y="124358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2OS ACCOUNTING SYSTEM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07008" y="1426464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 Tax &amp; PFRS Books of Accounts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480560" y="12801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SELECTED ENTITY: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0" y="12801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2801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[icon:building] Select Entity  ▾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595360" y="12801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12801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[db] InfinityFree &amp; MySQL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652760" y="1289304"/>
            <a:ext cx="274320" cy="27432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52760" y="12893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018520" y="128016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▢   ✕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" y="1682496"/>
            <a:ext cx="11094415" cy="347472"/>
          </a:xfrm>
          <a:prstGeom prst="rect">
            <a:avLst/>
          </a:prstGeom>
          <a:solidFill>
            <a:srgbClr val="EDF6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1719072"/>
            <a:ext cx="76078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Home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19733" y="1719072"/>
            <a:ext cx="11631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Directory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56002" y="1719072"/>
            <a:ext cx="18068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 Books of Accounts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36008" y="1719072"/>
            <a:ext cx="188732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📑 Other Transactions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596482" y="1719072"/>
            <a:ext cx="204825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96482" y="1993392"/>
            <a:ext cx="2048256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6596482" y="1719072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🏛️ Financial Statements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17890" y="1719072"/>
            <a:ext cx="17263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BIR Computations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545775" y="17190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Settings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" y="2029968"/>
            <a:ext cx="11094415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E0F2F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⚖️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2376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755648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55648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792224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Income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825496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25496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🏛️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862072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Position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895344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95344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📑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931920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 Equity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965192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65192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🪙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001768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035040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0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071616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to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31520" y="2688336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STATEMENTS TOOLS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8579815" y="2103120"/>
            <a:ext cx="18288" cy="694944"/>
          </a:xfrm>
          <a:prstGeom prst="rect">
            <a:avLst/>
          </a:prstGeom>
          <a:solidFill>
            <a:srgbClr val="BAE6FD"/>
          </a:solidFill>
          <a:ln/>
        </p:spPr>
      </p:sp>
      <p:sp>
        <p:nvSpPr>
          <p:cNvPr id="51" name="Text 49"/>
          <p:cNvSpPr/>
          <p:nvPr/>
        </p:nvSpPr>
        <p:spPr>
          <a:xfrm>
            <a:off x="8716975" y="21214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📄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716975" y="2340864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9402775" y="21214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📥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402775" y="2340864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0088575" y="21214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🖨️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0088575" y="2340864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10774375" y="21214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📤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0774375" y="2340864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8716975" y="2688336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&amp; CONVERT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548640" y="2999232"/>
            <a:ext cx="11094415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023360" y="30540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SELECTED ENTITY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26480" y="3054096"/>
            <a:ext cx="2560320" cy="20116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26480" y="305409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(ALL BRANCHES)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005840" y="3273552"/>
            <a:ext cx="101800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STATEMENT OF FINANCIAL POSITION (BALANCE SHEET)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4389120" y="3529584"/>
            <a:ext cx="3413455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389120" y="3529584"/>
            <a:ext cx="34134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AS OF AUGUST 31, 2026 ▾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548640" y="6355080"/>
            <a:ext cx="11094415" cy="347472"/>
          </a:xfrm>
          <a:prstGeom prst="rect">
            <a:avLst/>
          </a:prstGeom>
          <a:solidFill>
            <a:srgbClr val="EDF6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5800" y="640080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&lt;  &gt;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43000" y="64008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🪢 SHEETS: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011680" y="6400800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</p:sp>
      <p:sp>
        <p:nvSpPr>
          <p:cNvPr id="71" name="Text 69"/>
          <p:cNvSpPr/>
          <p:nvPr/>
        </p:nvSpPr>
        <p:spPr>
          <a:xfrm>
            <a:off x="2011680" y="6400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Consolidated   [Aggregated]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206240" y="6400800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06240" y="6400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Head Office   [Main]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9722815" y="6400800"/>
            <a:ext cx="1783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722815" y="64008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Manage Branches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548640" y="3877056"/>
            <a:ext cx="11094415" cy="2404872"/>
          </a:xfrm>
          <a:prstGeom prst="roundRect">
            <a:avLst>
              <a:gd name="adj" fmla="val 3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31520" y="4014216"/>
            <a:ext cx="10728655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8" name="Text 76"/>
          <p:cNvSpPr/>
          <p:nvPr/>
        </p:nvSpPr>
        <p:spPr>
          <a:xfrm>
            <a:off x="822960" y="401421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CLASSIFICATION (PFRS AUDIT-READY)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6035040" y="401421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PERIOD (2026)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8229600" y="401421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 PERIOD (2025)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10149840" y="401421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VARIANCE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731520" y="4334256"/>
            <a:ext cx="10728655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22960" y="4334256"/>
            <a:ext cx="5029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ASSETS: Cash &amp; Cash Equivalents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6035040" y="4334256"/>
            <a:ext cx="20116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894,200.00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8229600" y="4334256"/>
            <a:ext cx="18288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640,000.00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10149840" y="4334256"/>
            <a:ext cx="1188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+39.7%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731520" y="4636008"/>
            <a:ext cx="10728655" cy="283464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2960" y="4636008"/>
            <a:ext cx="5029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and Other Receivables (Net of Allowance)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6035040" y="4636008"/>
            <a:ext cx="20116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580,450.00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8229600" y="4636008"/>
            <a:ext cx="18288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410,200.00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10149840" y="4636008"/>
            <a:ext cx="1188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+41.5%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731520" y="4937760"/>
            <a:ext cx="10728655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22960" y="4937760"/>
            <a:ext cx="5029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Merchandise Inventory &amp; Prepaid Taxes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6035040" y="4937760"/>
            <a:ext cx="20116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350,000.00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8229600" y="4937760"/>
            <a:ext cx="18288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280,000.00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10149840" y="4937760"/>
            <a:ext cx="1188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+25.0%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731520" y="5239512"/>
            <a:ext cx="10728655" cy="283464"/>
          </a:xfrm>
          <a:prstGeom prst="rect">
            <a:avLst/>
          </a:prstGeom>
          <a:solidFill>
            <a:srgbClr val="E0F2FE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22960" y="5239512"/>
            <a:ext cx="5029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CURRENT ASSETS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6035040" y="5239512"/>
            <a:ext cx="20116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1,824,650.00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8229600" y="5239512"/>
            <a:ext cx="18288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1,330,200.00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10149840" y="5239512"/>
            <a:ext cx="1188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+37.2%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731520" y="5541264"/>
            <a:ext cx="10728655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22960" y="5541264"/>
            <a:ext cx="5029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NON-CURRENT ASSETS: Property, Plant &amp; Equipment (Net)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6035040" y="5541264"/>
            <a:ext cx="20116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1,450,000.00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8229600" y="5541264"/>
            <a:ext cx="18288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1,520,000.00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10149840" y="5541264"/>
            <a:ext cx="1188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-4.6%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731520" y="5843016"/>
            <a:ext cx="10728655" cy="283464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22960" y="5843016"/>
            <a:ext cx="5029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ASSETS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6035040" y="5843016"/>
            <a:ext cx="20116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3,274,650.00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8229600" y="5843016"/>
            <a:ext cx="18288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2,850,200.00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10149840" y="5843016"/>
            <a:ext cx="1188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+14.9%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01168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RIBBON MODULE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 COMPUTATIONS Ribbon: Native Philippine Statutory Tax Suite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compilation of Withholding Tax (2307/2316), VAT 2550Q, Income Tax 1702Q, SLSP, SAWT &amp; QAP.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11094415" cy="475488"/>
          </a:xfrm>
          <a:prstGeom prst="roundRect">
            <a:avLst>
              <a:gd name="adj" fmla="val 15385"/>
            </a:avLst>
          </a:prstGeom>
          <a:solidFill>
            <a:srgbClr val="EDF6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261872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26187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07008" y="124358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2OS ACCOUNTING SYSTEM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07008" y="1426464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 Tax &amp; PFRS Books of Accounts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480560" y="12801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SELECTED ENTITY: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0" y="12801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2801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[icon:building] Select Entity  ▾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595360" y="12801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12801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[db] InfinityFree &amp; MySQL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652760" y="1289304"/>
            <a:ext cx="274320" cy="27432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52760" y="12893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018520" y="128016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▢   ✕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" y="1682496"/>
            <a:ext cx="11094415" cy="347472"/>
          </a:xfrm>
          <a:prstGeom prst="rect">
            <a:avLst/>
          </a:prstGeom>
          <a:solidFill>
            <a:srgbClr val="EDF6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1719072"/>
            <a:ext cx="76078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Home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19733" y="1719072"/>
            <a:ext cx="11631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Directory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56002" y="1719072"/>
            <a:ext cx="18068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 Books of Accounts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36008" y="1719072"/>
            <a:ext cx="188732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📑 Other Transactions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596482" y="1719072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🏛️ Financial Statements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717890" y="1719072"/>
            <a:ext cx="1726387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17890" y="1993392"/>
            <a:ext cx="1726387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8717890" y="1719072"/>
            <a:ext cx="17263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BIR Computations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545775" y="17190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Settings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" y="2029968"/>
            <a:ext cx="11094415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2376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Withholding Tax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755648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E0F2F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55648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🛡️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792224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Withholding Tax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825496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25496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🧾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862072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895344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95344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🧮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931920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965192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65192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📁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001768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SLSP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035040" y="2103120"/>
            <a:ext cx="960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0" y="213969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071616" y="23774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SAWT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31520" y="2688336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 COMPUTATIONS TOOLS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8579815" y="2103120"/>
            <a:ext cx="18288" cy="694944"/>
          </a:xfrm>
          <a:prstGeom prst="rect">
            <a:avLst/>
          </a:prstGeom>
          <a:solidFill>
            <a:srgbClr val="BAE6FD"/>
          </a:solidFill>
          <a:ln/>
        </p:spPr>
      </p:sp>
      <p:sp>
        <p:nvSpPr>
          <p:cNvPr id="51" name="Text 49"/>
          <p:cNvSpPr/>
          <p:nvPr/>
        </p:nvSpPr>
        <p:spPr>
          <a:xfrm>
            <a:off x="8716975" y="21214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📄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716975" y="2340864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9402775" y="21214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📥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402775" y="2340864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0088575" y="21214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🖨️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0088575" y="2340864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10774375" y="212140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📤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0774375" y="2340864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8716975" y="2688336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&amp; CONVERT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548640" y="2999232"/>
            <a:ext cx="11094415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023360" y="30540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SELECTED ENTITY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26480" y="3054096"/>
            <a:ext cx="2560320" cy="20116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26480" y="305409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(ALL BRANCHES)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005840" y="3273552"/>
            <a:ext cx="101800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 FORM 2307 CREDITABLE WITHHOLDING TAX (ISSUED)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4389120" y="3529584"/>
            <a:ext cx="3413455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389120" y="3529584"/>
            <a:ext cx="341345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FOR THE 3RD QUARTER ENDED SEPTEMBER 30, 2026 ▾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548640" y="6355080"/>
            <a:ext cx="11094415" cy="347472"/>
          </a:xfrm>
          <a:prstGeom prst="rect">
            <a:avLst/>
          </a:prstGeom>
          <a:solidFill>
            <a:srgbClr val="EDF6FC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5800" y="640080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&lt;  &gt;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43000" y="64008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🪢 SHEETS: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011680" y="6400800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</p:sp>
      <p:sp>
        <p:nvSpPr>
          <p:cNvPr id="71" name="Text 69"/>
          <p:cNvSpPr/>
          <p:nvPr/>
        </p:nvSpPr>
        <p:spPr>
          <a:xfrm>
            <a:off x="2011680" y="6400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Consolidated   [Aggregated]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206240" y="6400800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06240" y="6400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Head Office   [Main]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9722815" y="6400800"/>
            <a:ext cx="1783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722815" y="64008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Manage Branches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548640" y="3877056"/>
            <a:ext cx="11094415" cy="2404872"/>
          </a:xfrm>
          <a:prstGeom prst="roundRect">
            <a:avLst>
              <a:gd name="adj" fmla="val 3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31520" y="4014216"/>
            <a:ext cx="10728655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8" name="Text 76"/>
          <p:cNvSpPr/>
          <p:nvPr/>
        </p:nvSpPr>
        <p:spPr>
          <a:xfrm>
            <a:off x="822960" y="40142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PAYOR / WITHHOLDING AGENT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4754880" y="401421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ATC CODE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943600" y="401421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NATURE OF PAYMENT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8503920" y="401421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TAX BASE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9966960" y="401421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TAX WITHHELD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731520" y="4334256"/>
            <a:ext cx="1072865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22960" y="433425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Ayala Commercial Properties (TIN: 123-456-789-00000)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754880" y="433425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 100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943600" y="433425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Fees (Lawyers / Accountants)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8503920" y="433425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100,000.00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9966960" y="433425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5,000.00 (5.0%)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731520" y="4700016"/>
            <a:ext cx="10728655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22960" y="47000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Prime Holdings Inc. (TIN: 987-654-321-00000)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4754880" y="470001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 157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5943600" y="470001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Rentals - Real Property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8503920" y="470001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250,000.00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9966960" y="470001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12,500.00 (5.0%)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731520" y="5065776"/>
            <a:ext cx="1072865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22960" y="506577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Miguel Logistics LLC (TIN: 456-789-012-00000)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4754880" y="506577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 158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5943600" y="506577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to General Contractors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8503920" y="506577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150,000.00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9966960" y="506577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3,000.00 (2.0%)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731520" y="5431536"/>
            <a:ext cx="10728655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22960" y="54315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Jollibee Foods Franchise (TIN: 321-654-987-00001)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4754880" y="543153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 160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5943600" y="543153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/ Media Services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8503920" y="543153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80,000.00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9966960" y="543153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1,600.00 (2.0%)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01168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MARKET COMPARISON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 Advantage: Why 2OS Outperforms in the Philippines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2OS with Foreign SaaS ERPs and vulnerable manual spreadsheets.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22960" y="1325880"/>
            <a:ext cx="10545775" cy="38404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325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CAPABILITY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023360" y="13258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EF0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2OS ACCOUNTING SYSTEM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0" y="13258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FOREIGN SAAS (XERO / QBO)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0" y="13258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SPREADSHEETS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1783080"/>
            <a:ext cx="10545775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783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Paradigm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023360" y="1783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Office Ribbon &amp; Excel Sheets (Familiar)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0" y="17830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Custom ERP Navigation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01200" y="17830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Sheets (Unlinked)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" y="2441448"/>
            <a:ext cx="10545775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441448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Currency Pricing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023360" y="244144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PHP (from ₱499/mo)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0" y="244144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$50 - $300 USD/month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01200" y="244144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(but high error cost)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2960" y="3099816"/>
            <a:ext cx="10545775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099816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Form 2307 &amp; 2316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023360" y="3099816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Native, Automated &amp; 1-Click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315200" y="3099816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 without add-on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01200" y="3099816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copy-paste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22960" y="3758184"/>
            <a:ext cx="10545775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3758184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Payroll (SSS/PHIC/HDMF)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023360" y="375818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2024+ Government Brackets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0" y="375818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 natively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601200" y="3758184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formula risks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22960" y="4416552"/>
            <a:ext cx="10545775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441655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2-Party Sync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023360" y="441655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Architectural DNA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315200" y="441655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Single-Party perspective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601200" y="441655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reconciliation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22960" y="5074920"/>
            <a:ext cx="10545775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5840" y="50749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Options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023360" y="50749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Local + Free Cloud (MySQL)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315200" y="50749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Cloud Lock-in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601200" y="50749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Dispersed file folders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01168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 MARKET SCOPE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47548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Scalable from Micro Businesses to Large Enterprises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adaptable deployment tiers supporting the full spectrum of Philippine enterprise growth.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2423160" cy="466344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371600"/>
            <a:ext cx="2423160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600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1: MICRO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93852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 &amp; Sari-Sari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2331720"/>
            <a:ext cx="2148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accounting training needed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invoicing on mobile or PC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Daily cash collection tracking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8% Gross Income Tax assistance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80% cheaper than foreign SaaS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20440" y="1371600"/>
            <a:ext cx="2423160" cy="466344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1371600"/>
            <a:ext cx="242316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1600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2: SMALL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193852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Cafes, Clinics &amp; Services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0" y="2331720"/>
            <a:ext cx="2148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to 20 staff members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statutory payroll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BIR 2307 vendor certificates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credit &amp; collections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Inventory cost flow monitoring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1371600"/>
            <a:ext cx="2423160" cy="466344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371600"/>
            <a:ext cx="242316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600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3: MEDIUM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193852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&amp; Manufacturing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55080" y="2331720"/>
            <a:ext cx="2148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Multi-branch operations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PFRS financial statement suites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SLSP and SAWT validation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Bank reconciliation center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Horizontal ratio analysis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915400" y="1371600"/>
            <a:ext cx="2423160" cy="466344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15400" y="1371600"/>
            <a:ext cx="2423160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9052560" y="16002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4: ENTERPRISE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52560" y="193852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 &amp; Franchises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052560" y="2331720"/>
            <a:ext cx="2148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Multi-entity consolidation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Parent-subsidiary elimination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Private MySQL deployment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Unlimited journal throughput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trail export for BIR eAFS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3794760" y="777240"/>
            <a:ext cx="4572000" cy="411480"/>
          </a:xfrm>
          <a:prstGeom prst="roundRect">
            <a:avLst>
              <a:gd name="adj" fmla="val 44444"/>
            </a:avLst>
          </a:prstGeom>
          <a:solidFill>
            <a:srgbClr val="E0F2FE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94760" y="777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2OS ACCOUNTING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on a Strong Foundation.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Bridge Your Financial Future.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280160" y="2651760"/>
            <a:ext cx="96012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74320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"Because every progress is always supported by a strong foundation,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2OS will not only be the bridge but also the foundation."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4389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Commercial Demonstration, Pilot Deployments &amp; Investor Partnerships.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2OS Cloud or Connect with the Engineering Team.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2OS Accounting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2OS Pitch Deck - Authentic UI Architecture</dc:title>
  <dc:subject>2OS Bilateral Synchronization Accounting Platform</dc:subject>
  <dc:creator>2OS Founder &amp; Executive Team</dc:creator>
  <cp:lastModifiedBy>2OS Founder &amp; Executive Team</cp:lastModifiedBy>
  <cp:revision>1</cp:revision>
  <dcterms:created xsi:type="dcterms:W3CDTF">2026-09-03T10:34:42Z</dcterms:created>
  <dcterms:modified xsi:type="dcterms:W3CDTF">2026-09-03T10:34:42Z</dcterms:modified>
</cp:coreProperties>
</file>